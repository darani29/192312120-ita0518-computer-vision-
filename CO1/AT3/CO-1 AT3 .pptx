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6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5412" y="1851384"/>
            <a:ext cx="9401175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750" b="0" i="0" u="none" dirty="0">
                <a:solidFill>
                  <a:srgbClr val="FFFFFF"/>
                </a:solidFill>
                <a:latin typeface="Plus Jakarta Sans ExtraBold"/>
              </a:rPr>
              <a:t>Image Processing vs</a:t>
            </a:r>
            <a:r>
              <a:rPr lang="en-US" sz="3750" dirty="0">
                <a:solidFill>
                  <a:srgbClr val="FFFFFF"/>
                </a:solidFill>
                <a:latin typeface="Plus Jakarta Sans ExtraBold"/>
              </a:rPr>
              <a:t> </a:t>
            </a:r>
            <a:r>
              <a:rPr sz="3750" b="0" i="0" u="none" dirty="0">
                <a:solidFill>
                  <a:srgbClr val="FFFFFF"/>
                </a:solidFill>
                <a:latin typeface="Plus Jakarta Sans ExtraBold"/>
              </a:rPr>
              <a:t>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49" y="2580898"/>
            <a:ext cx="781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A Comparative Technical Analysis of Problem Scopes, Algorithmic Foundations, and System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15700" y="6524625"/>
            <a:ext cx="3429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796" y="4769395"/>
            <a:ext cx="4819804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 </a:t>
            </a:r>
          </a:p>
          <a:p>
            <a:pPr algn="ctr">
              <a:lnSpc>
                <a:spcPts val="1687"/>
              </a:lnSpc>
            </a:pPr>
            <a:r>
              <a:rPr lang="en-US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b="0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Darani</a:t>
            </a:r>
            <a:r>
              <a:rPr lang="en-US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(192312120)</a:t>
            </a:r>
            <a:endParaRPr b="0" i="0" u="none" dirty="0">
              <a:solidFill>
                <a:srgbClr val="F8FA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25DBF-1ACB-5626-E14F-04A4265670C6}"/>
              </a:ext>
            </a:extLst>
          </p:cNvPr>
          <p:cNvSpPr txBox="1"/>
          <p:nvPr/>
        </p:nvSpPr>
        <p:spPr>
          <a:xfrm>
            <a:off x="3800166" y="3429000"/>
            <a:ext cx="459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ITA0518 – COMPUTER VISION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22090"/>
            <a:ext cx="5410200" cy="3271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22090"/>
            <a:ext cx="5410200" cy="3271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19100"/>
            <a:ext cx="11658600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Executive Overview: Visual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36290"/>
            <a:ext cx="1112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While both disciplines operate on visual data, their operational goals, underlying mathematical paradigms, and output abstraction levels differ fundamentally.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1960215"/>
            <a:ext cx="46196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Image Processing (IP)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274540"/>
            <a:ext cx="4905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40AF"/>
                </a:solidFill>
                <a:latin typeface="Inter SemiBold"/>
              </a:rPr>
              <a:t>Low to Mid-Level Signal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850" y="1960215"/>
            <a:ext cx="46196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Computer Vision (CV)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274540"/>
            <a:ext cx="4905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E7490"/>
                </a:solidFill>
                <a:latin typeface="Inter SemiBold"/>
              </a:rPr>
              <a:t>High-Level Semantic Interpretation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964977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8700" y="258410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Primary Objective: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Manipulate pixel values to enhance quality, suppress noise, or highlight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127027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Transformation Mapping: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Mapping an input image to an updated output image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66995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Core Paradigms: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Spatial filtering, Fourier transforms, histogram equalization, and wavelets.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212877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Domain Boundary: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Processed result remains a visual image or feature map.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964977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43700" y="258410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Primary Objective: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Reconstruct 3D structure and derive automated decisions from visual inputs.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700" y="3127027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Transformation Mapping: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Mapping visual input to semantic labels or geometric models.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366995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Core Paradigms: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Convolutional Neural Networks, Transformer backbones, tracking, and pose estimation.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4212877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Domain Boundary: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Result is actionable data, classifications, bounding boxes, or spatial coordinates.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56505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3107977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75" y="3174652"/>
            <a:ext cx="558998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3175" y="3361580"/>
            <a:ext cx="609748" cy="17025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7250" y="365090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4193827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256505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0" y="3107977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2200" y="3184177"/>
            <a:ext cx="47625" cy="952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3700" y="3398490"/>
            <a:ext cx="103286" cy="95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72250" y="365090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0" y="4193827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11499"/>
            <a:ext cx="5181600" cy="12834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211562"/>
            <a:ext cx="4857750" cy="526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20" y="572213"/>
            <a:ext cx="5440680" cy="33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Scope: Image Processing Domain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276" y="1067414"/>
            <a:ext cx="4198374" cy="4723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0412"/>
            <a:ext cx="5181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Determinism &amp; Signal Conditioning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9024"/>
            <a:ext cx="51816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Image processing focuses on deterministic transformations applied to multi-dimensional signals to improve visual fidelity or highlight latent structural properties.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873424"/>
            <a:ext cx="48577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2563EB"/>
                </a:solidFill>
                <a:latin typeface="Inter"/>
              </a:rPr>
              <a:t>Mathematical Formalism: Spatial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47393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Denoising &amp; Smoothing: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Gaussian blur, Median filtering, Bilateral filtering.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90318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Contrast Enhancement: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Histogram equalization, CLAHE, gamma correction.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33243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Frequency Domain: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Low-pass, High-pass, and Band-pass Butterworth filtering.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216" y="3325862"/>
            <a:ext cx="1737568" cy="297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92784" y="3379440"/>
            <a:ext cx="428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&lt; mi&gt;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4128343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4671268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" y="5214193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64469"/>
            <a:ext cx="5181600" cy="1177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1960" y="618321"/>
            <a:ext cx="5440680" cy="33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Scope: Computer Vision Domain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990" y="618321"/>
            <a:ext cx="4835277" cy="5439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783407"/>
            <a:ext cx="5181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Cognition &amp; Semantic 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2019"/>
            <a:ext cx="5181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Computer vision mimics human perception by bridging raw sensory data with contextual semantics, enabling automated decision-making and spatial reasoning.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826394"/>
            <a:ext cx="48577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6B6D4"/>
                </a:solidFill>
                <a:latin typeface="Inter"/>
              </a:rPr>
              <a:t>Deep Learning Formulation: Object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94398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Object Detection &amp; Recognition: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YOLO, Faster R-CNN, SSD architectures.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37323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Semantic &amp; Instance Segmentation: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Mask R-CNN, Segment Anything Model (SAM).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80248"/>
            <a:ext cx="4953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3D Reconstruction &amp; SLAM: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Stereo vision, Structure-from-Motion (SfM).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398" y="3278832"/>
            <a:ext cx="1945778" cy="1916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4350" y="3975348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4518273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5061198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41102"/>
            <a:ext cx="11125200" cy="1519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41314"/>
            <a:ext cx="11125200" cy="1519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045940"/>
            <a:ext cx="2447925" cy="733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2045940"/>
            <a:ext cx="2447925" cy="733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450" y="2045940"/>
            <a:ext cx="2447925" cy="733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2045940"/>
            <a:ext cx="2447925" cy="733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3755677"/>
            <a:ext cx="2447925" cy="733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5200" y="3755677"/>
            <a:ext cx="2447925" cy="733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7450" y="3755677"/>
            <a:ext cx="2447925" cy="733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9700" y="3755677"/>
            <a:ext cx="2447925" cy="7334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19100"/>
            <a:ext cx="11658600" cy="406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Technical Pipeline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036290"/>
            <a:ext cx="111252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Comparing the execution pipelines demonstrates how Image Processing feeds directly into Computer Vision architectures.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66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1622077"/>
            <a:ext cx="10734675" cy="214312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Inter"/>
              </a:rPr>
              <a:t>Classical Image Processing Pipeline (Deterministic)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3331815"/>
            <a:ext cx="10734675" cy="214312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891B2"/>
                </a:solidFill>
                <a:latin typeface="Inter"/>
              </a:rPr>
              <a:t>Modern Computer Vision Pipeline (Probabilistic / AI)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" y="1650652"/>
            <a:ext cx="1809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3360390"/>
            <a:ext cx="18097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1773" y="2207865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Raw 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2445990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Sensors / CCD Capture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6125" y="2317402"/>
            <a:ext cx="123825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14023" y="2207865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Pre-processing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7125" y="2445990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Noise Removal &amp; Gamma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48375" y="2317402"/>
            <a:ext cx="123825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76273" y="2207865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Enhancement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2445990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Sharpening &amp; Contrast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0625" y="2317402"/>
            <a:ext cx="12382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38523" y="2207865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4. Output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1625" y="2445990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Refined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773" y="3917602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1. IP Pre-processing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875" y="4155727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Normalization &amp; Resizing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6125" y="4027140"/>
            <a:ext cx="123825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14023" y="3917602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2. Feature Extraction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67125" y="4155727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Convolutional Backbones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48375" y="4027140"/>
            <a:ext cx="123825" cy="190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76273" y="3917602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3. Semantic 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9375" y="4155727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Attention / Deep Heads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0625" y="4027140"/>
            <a:ext cx="123825" cy="190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38523" y="3917602"/>
            <a:ext cx="223027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4. Decision 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1625" y="4155727"/>
            <a:ext cx="2124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Inter"/>
              </a:rPr>
              <a:t>Metadata / Action Vector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25732" y="2460277"/>
            <a:ext cx="74860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036290"/>
            <a:ext cx="5410200" cy="35742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36290"/>
            <a:ext cx="5410200" cy="3574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19100"/>
            <a:ext cx="11658600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Algorithmic &amp; Math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1274415"/>
            <a:ext cx="46196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Image Processing 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588740"/>
            <a:ext cx="4933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Focuses on linear algebra, calculus, and discrete signal processing algorithms.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850" y="1274415"/>
            <a:ext cx="46196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Computer Vision Mathematics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1588740"/>
            <a:ext cx="49339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Rooted in statistical optimization, multi-view geometry, and neural learning.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279177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052" y="2112615"/>
            <a:ext cx="3191321" cy="3262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0125" y="2743646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Discrete Fourier Transforms (DFT):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Frequency domain analysis and filtering.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286571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Convolution Kernels: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Sobel ( ), Laplacian of Gaussian (LoG), Canny filter.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829496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Morphological Operators: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Dilation, erosion, opening, closing matrix transformations.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1279177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1003" y="2112615"/>
            <a:ext cx="2353419" cy="3357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15125" y="2753171"/>
            <a:ext cx="47053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Epipolar Geometry: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Fundamental Matrix ( ) and Essential Matrix ( 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3081783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Backpropagation &amp; Optimization: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Stochastic Gradient Descent (SGD), AdamW optimizer.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624708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Probabilistic Graphical Models: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Markov Random Fields (MRF), Kalman Filtering for tracking.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2724596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3267521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75" y="3343721"/>
            <a:ext cx="480119" cy="14704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" y="3810446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2734121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3575" y="2810321"/>
            <a:ext cx="79474" cy="952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04674" y="2810321"/>
            <a:ext cx="87362" cy="95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43675" y="3062733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3675" y="3605658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036290"/>
            <a:ext cx="11125200" cy="311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19100"/>
            <a:ext cx="11658600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Comprehensive Comparative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66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2925" y="1045815"/>
          <a:ext cx="11106148" cy="310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8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3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Comparison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Image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Computer Vision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Input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Raw 2D / 3D Images or Video Frames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Processed Images, Video Streams, Point Clouds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Output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Modified / Enhanced Image Matrix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Labels, Bounding Boxes, 3D Mesh, Decision 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Primary Goal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Signal Enhancement &amp; Feature Extraction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Visual Perception, Understanding &amp; Automation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Core Methodologies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Spatial &amp; Frequency Domain Filters, Wavelets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Convolutional Networks, Vision Transformers, Graph Neural Networks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Human Visual Analogy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Retinal Signal Conditioning / Optic Nerve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Visual Cortex Cognition &amp; High-Level Brain Interpretation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Computational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Pixel-level operations, Deterministic DSP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Pattern recognition, High-dimensional optimization, Inference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2925" y="1950690"/>
            <a:ext cx="2144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7835" y="1950690"/>
            <a:ext cx="3908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96062" y="1950690"/>
            <a:ext cx="5053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2388840"/>
            <a:ext cx="2144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7835" y="2388840"/>
            <a:ext cx="3908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96062" y="2388840"/>
            <a:ext cx="5053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2925" y="2826990"/>
            <a:ext cx="2144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87835" y="2826990"/>
            <a:ext cx="3908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96062" y="2826990"/>
            <a:ext cx="5053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2925" y="3265140"/>
            <a:ext cx="2144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87835" y="3265140"/>
            <a:ext cx="3908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96062" y="3265140"/>
            <a:ext cx="5053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2925" y="3703290"/>
            <a:ext cx="21449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87835" y="3703290"/>
            <a:ext cx="3908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96062" y="3703290"/>
            <a:ext cx="5053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036290"/>
            <a:ext cx="2638425" cy="19931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1036290"/>
            <a:ext cx="2638425" cy="19931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036290"/>
            <a:ext cx="2638425" cy="19931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175" y="1036290"/>
            <a:ext cx="2638425" cy="19931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658600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Real-World Industry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66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1274415"/>
            <a:ext cx="18764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1579215"/>
            <a:ext cx="21621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2563EB"/>
                </a:solidFill>
                <a:latin typeface="Inter"/>
              </a:rPr>
              <a:t>Medical Imaging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1822102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IP: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Contrast tuning on CT/MRI scans to highlight soft tissue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255490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CV: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Automated tumor segmentation and metastasis trajectory prediction.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3825" y="1274415"/>
            <a:ext cx="18288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Automotive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1579215"/>
            <a:ext cx="21621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6B6D4"/>
                </a:solidFill>
                <a:latin typeface="Inter"/>
              </a:rPr>
              <a:t>Autonomous 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1822102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IP: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High Dynamic Range (HDR) blending under tunnel glare.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450" y="2255490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CV: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Real-time pedestrian detection, lane tracking, and path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1274415"/>
            <a:ext cx="18764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1579215"/>
            <a:ext cx="21621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8B5CF6"/>
                </a:solidFill>
                <a:latin typeface="Inter"/>
              </a:rPr>
              <a:t>Quality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1822102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IP: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Edge detection for PCB trace continuity measurement.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2255490"/>
            <a:ext cx="2162175" cy="53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CV: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Anomaly detection using generative autoencoders on production 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4050" y="1274415"/>
            <a:ext cx="18764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300" y="1579215"/>
            <a:ext cx="21621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59E0B"/>
                </a:solidFill>
                <a:latin typeface="Inter"/>
              </a:rPr>
              <a:t>Surveillance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300" y="1822102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IP: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Night-vision infrared thermal image dehazing.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300" y="2255490"/>
            <a:ext cx="21621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CV: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Facial identification and crowd behavior anomaly recognition.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1274415"/>
            <a:ext cx="19050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450" y="1274415"/>
            <a:ext cx="23812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1274415"/>
            <a:ext cx="19050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8300" y="127441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036290"/>
            <a:ext cx="5410200" cy="2924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36290"/>
            <a:ext cx="5410200" cy="2924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19100"/>
            <a:ext cx="11658600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Hardware &amp; Compute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1274415"/>
            <a:ext cx="46196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Image Processing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588740"/>
            <a:ext cx="4905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Streamed Pixel Processing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850" y="1274415"/>
            <a:ext cx="461962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Computer Vision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1588740"/>
            <a:ext cx="4905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Inter SemiBold"/>
              </a:rPr>
              <a:t>High-Throughput Parallel Compute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279177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700" y="187925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DSPs &amp; FPGAs: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Fixed-function pipelines optimized for low-latency matrix 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2422177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Image Signal Processors (ISPs):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Dedicated silicon blocks inside camera modules for demosaicing, auto-exposure, and white 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179415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Memory Bottlenecks: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Low cache requirements; operates linearly on streaming pixel rows.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1279177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43700" y="187925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GPUs &amp; Tensor Processing Units (TPUs):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Optimized for dense matrix multiplication and parallel tensor operations.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700" y="2422177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Neural Processing Units (NPUs):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Specialized edge AI accelerators (e.g., Apple Neural Engine, Qualcomm Hexagon).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2965102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Memory Bottlenecks: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High memory bandwidth requirement for model parameters and feature activation maps.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186020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2403127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3160365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186020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2403127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2946052"/>
            <a:ext cx="85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819400"/>
            <a:ext cx="2387500" cy="1781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100" y="2819400"/>
            <a:ext cx="2387649" cy="1781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350" y="2819400"/>
            <a:ext cx="2387649" cy="1781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24625"/>
            <a:ext cx="1924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Visual Computing Technical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902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1285875"/>
            <a:ext cx="8001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Plus Jakarta Sans ExtraBold"/>
              </a:rPr>
              <a:t>Summary &amp;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00275"/>
            <a:ext cx="7620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Key Takeaways for System Engineers &amp; Researchers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981575"/>
            <a:ext cx="7620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4125" y="3057525"/>
            <a:ext cx="191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8BDF8"/>
                </a:solidFill>
                <a:latin typeface="Inter"/>
              </a:rPr>
              <a:t>Complementary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4125" y="3314700"/>
            <a:ext cx="19112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IP and CV are not mutually exclusive; IP refines signal inputs while CV infers high-level semantics.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0225" y="3057525"/>
            <a:ext cx="1911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818CF8"/>
                </a:solidFill>
                <a:latin typeface="Inter"/>
              </a:rPr>
              <a:t>Compute Trade-offs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0225" y="3314700"/>
            <a:ext cx="191139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Deterministic IP runs efficiently on lightweight edge DSPs; CV requires deep parallel accelerators.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6475" y="3057525"/>
            <a:ext cx="1911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084FC"/>
                </a:solidFill>
                <a:latin typeface="Inter"/>
              </a:rPr>
              <a:t>End-to-End Synergy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6475" y="3314700"/>
            <a:ext cx="191139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Modern industrial systems combine hardware-level ISP filtering with deep neural inference heads.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1011</Words>
  <Application>Microsoft Office PowerPoint</Application>
  <PresentationFormat>Widescreen</PresentationFormat>
  <Paragraphs>164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DARANI E</cp:lastModifiedBy>
  <cp:revision>2</cp:revision>
  <dcterms:created xsi:type="dcterms:W3CDTF">2013-01-27T09:14:16Z</dcterms:created>
  <dcterms:modified xsi:type="dcterms:W3CDTF">2026-08-02T15:48:57Z</dcterms:modified>
  <cp:category/>
</cp:coreProperties>
</file>